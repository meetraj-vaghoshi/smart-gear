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</p:sldIdLst>
  <p:sldSz cx="18288000" cy="10287000"/>
  <p:notesSz cx="6858000" cy="9144000"/>
  <p:embeddedFontLst>
    <p:embeddedFont>
      <p:font typeface="Bahnschrift Condensed" panose="020B0502040204020203" pitchFamily="34" charset="0"/>
      <p:regular r:id="rId9"/>
      <p:bold r:id="rId10"/>
    </p:embeddedFont>
    <p:embeddedFont>
      <p:font typeface="Bebas Neue" panose="020B0606020202050201" pitchFamily="34" charset="0"/>
      <p:regular r:id="rId11"/>
    </p:embeddedFont>
    <p:embeddedFont>
      <p:font typeface="Bebas Neue Bold" panose="020B0604020202020204" charset="0"/>
      <p:regular r:id="rId12"/>
    </p:embeddedFon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Bold" charset="0"/>
      <p:regular r:id="rId17"/>
    </p:embeddedFont>
    <p:embeddedFont>
      <p:font typeface="DM Sans Italics" panose="020B0604020202020204" charset="0"/>
      <p:regular r:id="rId18"/>
    </p:embeddedFont>
    <p:embeddedFont>
      <p:font typeface="Montserrat Classic" panose="020B0604020202020204" charset="0"/>
      <p:regular r:id="rId19"/>
    </p:embeddedFont>
    <p:embeddedFont>
      <p:font typeface="Montserrat Light" panose="00000400000000000000" pitchFamily="2" charset="0"/>
      <p:regular r:id="rId20"/>
      <p:italic r:id="rId21"/>
    </p:embeddedFont>
    <p:embeddedFont>
      <p:font typeface="Montserrat Light Bold" panose="020B0604020202020204" charset="0"/>
      <p:regular r:id="rId22"/>
    </p:embeddedFont>
    <p:embeddedFont>
      <p:font typeface="Now Bold" panose="020B0604020202020204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2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traj Vaghoshi" userId="56c0bd2cd9a08276" providerId="LiveId" clId="{FDB363ED-CD52-4E9A-A991-FBECB8D6D78A}"/>
    <pc:docChg chg="custSel delSld modSld">
      <pc:chgData name="Meetraj Vaghoshi" userId="56c0bd2cd9a08276" providerId="LiveId" clId="{FDB363ED-CD52-4E9A-A991-FBECB8D6D78A}" dt="2025-02-22T04:47:05.166" v="92" actId="1035"/>
      <pc:docMkLst>
        <pc:docMk/>
      </pc:docMkLst>
      <pc:sldChg chg="modSp mod">
        <pc:chgData name="Meetraj Vaghoshi" userId="56c0bd2cd9a08276" providerId="LiveId" clId="{FDB363ED-CD52-4E9A-A991-FBECB8D6D78A}" dt="2025-02-22T04:42:30.185" v="89" actId="1035"/>
        <pc:sldMkLst>
          <pc:docMk/>
          <pc:sldMk cId="0" sldId="256"/>
        </pc:sldMkLst>
        <pc:spChg chg="mod">
          <ac:chgData name="Meetraj Vaghoshi" userId="56c0bd2cd9a08276" providerId="LiveId" clId="{FDB363ED-CD52-4E9A-A991-FBECB8D6D78A}" dt="2025-02-22T04:42:30.185" v="89" actId="1035"/>
          <ac:spMkLst>
            <pc:docMk/>
            <pc:sldMk cId="0" sldId="256"/>
            <ac:spMk id="2" creationId="{00000000-0000-0000-0000-000000000000}"/>
          </ac:spMkLst>
        </pc:spChg>
        <pc:picChg chg="mod">
          <ac:chgData name="Meetraj Vaghoshi" userId="56c0bd2cd9a08276" providerId="LiveId" clId="{FDB363ED-CD52-4E9A-A991-FBECB8D6D78A}" dt="2025-02-22T04:42:26.789" v="86" actId="1037"/>
          <ac:picMkLst>
            <pc:docMk/>
            <pc:sldMk cId="0" sldId="256"/>
            <ac:picMk id="17" creationId="{A0C90A45-6F93-7BE1-FCBA-DF9B1661BC66}"/>
          </ac:picMkLst>
        </pc:picChg>
      </pc:sldChg>
      <pc:sldChg chg="modSp mod">
        <pc:chgData name="Meetraj Vaghoshi" userId="56c0bd2cd9a08276" providerId="LiveId" clId="{FDB363ED-CD52-4E9A-A991-FBECB8D6D78A}" dt="2025-02-22T04:43:36.993" v="90" actId="20577"/>
        <pc:sldMkLst>
          <pc:docMk/>
          <pc:sldMk cId="0" sldId="258"/>
        </pc:sldMkLst>
        <pc:spChg chg="mod">
          <ac:chgData name="Meetraj Vaghoshi" userId="56c0bd2cd9a08276" providerId="LiveId" clId="{FDB363ED-CD52-4E9A-A991-FBECB8D6D78A}" dt="2025-02-22T04:43:36.993" v="90" actId="20577"/>
          <ac:spMkLst>
            <pc:docMk/>
            <pc:sldMk cId="0" sldId="258"/>
            <ac:spMk id="6" creationId="{00000000-0000-0000-0000-000000000000}"/>
          </ac:spMkLst>
        </pc:spChg>
      </pc:sldChg>
      <pc:sldChg chg="del">
        <pc:chgData name="Meetraj Vaghoshi" userId="56c0bd2cd9a08276" providerId="LiveId" clId="{FDB363ED-CD52-4E9A-A991-FBECB8D6D78A}" dt="2025-02-22T04:06:13.016" v="52" actId="2696"/>
        <pc:sldMkLst>
          <pc:docMk/>
          <pc:sldMk cId="0" sldId="259"/>
        </pc:sldMkLst>
      </pc:sldChg>
      <pc:sldChg chg="modSp mod">
        <pc:chgData name="Meetraj Vaghoshi" userId="56c0bd2cd9a08276" providerId="LiveId" clId="{FDB363ED-CD52-4E9A-A991-FBECB8D6D78A}" dt="2025-02-22T04:08:13.055" v="82" actId="20577"/>
        <pc:sldMkLst>
          <pc:docMk/>
          <pc:sldMk cId="0" sldId="263"/>
        </pc:sldMkLst>
        <pc:spChg chg="mod">
          <ac:chgData name="Meetraj Vaghoshi" userId="56c0bd2cd9a08276" providerId="LiveId" clId="{FDB363ED-CD52-4E9A-A991-FBECB8D6D78A}" dt="2025-02-22T04:08:13.055" v="82" actId="20577"/>
          <ac:spMkLst>
            <pc:docMk/>
            <pc:sldMk cId="0" sldId="263"/>
            <ac:spMk id="10" creationId="{BE74E621-D28C-EDED-F7A8-19089AC5108A}"/>
          </ac:spMkLst>
        </pc:spChg>
      </pc:sldChg>
      <pc:sldChg chg="modSp mod">
        <pc:chgData name="Meetraj Vaghoshi" userId="56c0bd2cd9a08276" providerId="LiveId" clId="{FDB363ED-CD52-4E9A-A991-FBECB8D6D78A}" dt="2025-02-22T03:30:12.488" v="51" actId="1035"/>
        <pc:sldMkLst>
          <pc:docMk/>
          <pc:sldMk cId="0" sldId="264"/>
        </pc:sldMkLst>
        <pc:spChg chg="mod">
          <ac:chgData name="Meetraj Vaghoshi" userId="56c0bd2cd9a08276" providerId="LiveId" clId="{FDB363ED-CD52-4E9A-A991-FBECB8D6D78A}" dt="2025-02-22T03:30:12.488" v="51" actId="1035"/>
          <ac:spMkLst>
            <pc:docMk/>
            <pc:sldMk cId="0" sldId="264"/>
            <ac:spMk id="2" creationId="{00000000-0000-0000-0000-000000000000}"/>
          </ac:spMkLst>
        </pc:spChg>
        <pc:spChg chg="mod">
          <ac:chgData name="Meetraj Vaghoshi" userId="56c0bd2cd9a08276" providerId="LiveId" clId="{FDB363ED-CD52-4E9A-A991-FBECB8D6D78A}" dt="2025-02-22T02:53:46.615" v="48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eetraj Vaghoshi" userId="56c0bd2cd9a08276" providerId="LiveId" clId="{FDB363ED-CD52-4E9A-A991-FBECB8D6D78A}" dt="2025-02-22T04:47:05.166" v="92" actId="1035"/>
        <pc:sldMkLst>
          <pc:docMk/>
          <pc:sldMk cId="0" sldId="265"/>
        </pc:sldMkLst>
        <pc:spChg chg="mod">
          <ac:chgData name="Meetraj Vaghoshi" userId="56c0bd2cd9a08276" providerId="LiveId" clId="{FDB363ED-CD52-4E9A-A991-FBECB8D6D78A}" dt="2025-02-22T04:47:05.166" v="92" actId="1035"/>
          <ac:spMkLst>
            <pc:docMk/>
            <pc:sldMk cId="0" sldId="26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1748409">
            <a:off x="-3377546" y="10013356"/>
            <a:ext cx="6755091" cy="6130246"/>
          </a:xfrm>
          <a:custGeom>
            <a:avLst/>
            <a:gdLst/>
            <a:ahLst/>
            <a:cxnLst/>
            <a:rect l="l" t="t" r="r" b="b"/>
            <a:pathLst>
              <a:path w="6755091" h="6130246">
                <a:moveTo>
                  <a:pt x="0" y="0"/>
                </a:moveTo>
                <a:lnTo>
                  <a:pt x="6755092" y="0"/>
                </a:lnTo>
                <a:lnTo>
                  <a:pt x="6755092" y="6130245"/>
                </a:lnTo>
                <a:lnTo>
                  <a:pt x="0" y="6130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223819">
            <a:off x="13200151" y="-7624812"/>
            <a:ext cx="12596877" cy="11431666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6"/>
                </a:lnTo>
                <a:lnTo>
                  <a:pt x="0" y="114316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57400" y="-250206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8194833">
            <a:off x="15930621" y="9138563"/>
            <a:ext cx="5020066" cy="5020066"/>
          </a:xfrm>
          <a:custGeom>
            <a:avLst/>
            <a:gdLst/>
            <a:ahLst/>
            <a:cxnLst/>
            <a:rect l="l" t="t" r="r" b="b"/>
            <a:pathLst>
              <a:path w="5020066" h="5020066">
                <a:moveTo>
                  <a:pt x="0" y="0"/>
                </a:moveTo>
                <a:lnTo>
                  <a:pt x="5020067" y="0"/>
                </a:lnTo>
                <a:lnTo>
                  <a:pt x="5020067" y="5020066"/>
                </a:lnTo>
                <a:lnTo>
                  <a:pt x="0" y="5020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33606" y="198374"/>
            <a:ext cx="1127269" cy="1190905"/>
          </a:xfrm>
          <a:custGeom>
            <a:avLst/>
            <a:gdLst/>
            <a:ahLst/>
            <a:cxnLst/>
            <a:rect l="l" t="t" r="r" b="b"/>
            <a:pathLst>
              <a:path w="1127269" h="1190905">
                <a:moveTo>
                  <a:pt x="0" y="0"/>
                </a:moveTo>
                <a:lnTo>
                  <a:pt x="1127269" y="0"/>
                </a:lnTo>
                <a:lnTo>
                  <a:pt x="1127269" y="1190905"/>
                </a:lnTo>
                <a:lnTo>
                  <a:pt x="0" y="1190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35221" y="248787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1"/>
                </a:lnTo>
                <a:lnTo>
                  <a:pt x="0" y="810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13773" y="4161044"/>
            <a:ext cx="7827699" cy="43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83"/>
              </a:lnSpc>
              <a:spcBef>
                <a:spcPct val="0"/>
              </a:spcBef>
            </a:pPr>
            <a:r>
              <a:rPr lang="en-US" sz="2913">
                <a:solidFill>
                  <a:srgbClr val="FFFAEB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Presented by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3606" y="2618746"/>
            <a:ext cx="12333468" cy="154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30"/>
              </a:lnSpc>
            </a:pPr>
            <a:r>
              <a:rPr lang="en-US" sz="8800" dirty="0">
                <a:solidFill>
                  <a:schemeClr val="accent5"/>
                </a:solidFill>
                <a:latin typeface="Now Bold"/>
                <a:ea typeface="Now Bold"/>
                <a:cs typeface="Now Bold"/>
                <a:sym typeface="Now Bold"/>
              </a:rPr>
              <a:t>Gear</a:t>
            </a:r>
            <a:r>
              <a:rPr lang="en-US" sz="9000" dirty="0">
                <a:solidFill>
                  <a:srgbClr val="B100E8"/>
                </a:soli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sz="9000" dirty="0">
                <a:solidFill>
                  <a:schemeClr val="accent5"/>
                </a:solidFill>
                <a:latin typeface="Now Bold"/>
                <a:ea typeface="Now Bold"/>
                <a:cs typeface="Now Bold"/>
                <a:sym typeface="Now Bold"/>
              </a:rPr>
              <a:t>Portal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6813" y="1460338"/>
            <a:ext cx="4324179" cy="1320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45"/>
              </a:lnSpc>
            </a:pPr>
            <a:r>
              <a:rPr lang="en-US" sz="7658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Smart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1055" y="5221484"/>
            <a:ext cx="8819875" cy="357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0"/>
              </a:lnSpc>
            </a:pPr>
            <a:r>
              <a:rPr lang="en-US" sz="4842" spc="-242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Name : Meetraj   </a:t>
            </a:r>
            <a:r>
              <a:rPr lang="en-US" sz="4842" spc="-242" dirty="0" err="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naimish</a:t>
            </a:r>
            <a:r>
              <a:rPr lang="en-US" sz="4842" spc="-242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  </a:t>
            </a:r>
            <a:r>
              <a:rPr lang="en-US" sz="4842" spc="-242" dirty="0" err="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vaghoshi</a:t>
            </a:r>
            <a:endParaRPr lang="en-US" sz="4842" spc="-242" dirty="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algn="l">
              <a:lnSpc>
                <a:spcPts val="4600"/>
              </a:lnSpc>
            </a:pPr>
            <a:r>
              <a:rPr lang="en-US" sz="4842" spc="-242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Roll No:  72</a:t>
            </a:r>
          </a:p>
          <a:p>
            <a:pPr algn="l">
              <a:lnSpc>
                <a:spcPts val="4600"/>
              </a:lnSpc>
            </a:pPr>
            <a:r>
              <a:rPr lang="en-US" sz="4842" spc="-242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Enrollment no : 23002170110197</a:t>
            </a:r>
          </a:p>
          <a:p>
            <a:pPr algn="l">
              <a:lnSpc>
                <a:spcPts val="4600"/>
              </a:lnSpc>
            </a:pPr>
            <a:r>
              <a:rPr lang="en-US" sz="4842" spc="-242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Batch : a-2</a:t>
            </a:r>
          </a:p>
          <a:p>
            <a:pPr algn="l">
              <a:lnSpc>
                <a:spcPts val="4600"/>
              </a:lnSpc>
            </a:pPr>
            <a:r>
              <a:rPr lang="en-US" sz="4842" spc="-242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BRANCH : </a:t>
            </a:r>
            <a:r>
              <a:rPr lang="en-US" sz="4842" spc="-242" dirty="0" err="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ce</a:t>
            </a:r>
            <a:endParaRPr lang="en-US" sz="4842" spc="-242" dirty="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  <a:p>
            <a:pPr algn="l">
              <a:lnSpc>
                <a:spcPts val="4600"/>
              </a:lnSpc>
            </a:pPr>
            <a:endParaRPr lang="en-US" sz="4842" spc="-242" dirty="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C2708-5B48-061E-343D-4FCAF6B97363}"/>
              </a:ext>
            </a:extLst>
          </p:cNvPr>
          <p:cNvSpPr txBox="1"/>
          <p:nvPr/>
        </p:nvSpPr>
        <p:spPr>
          <a:xfrm>
            <a:off x="1775825" y="517041"/>
            <a:ext cx="6569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LJ INSTITUTE OF ENGINEERING AND TECHNOLOGY</a:t>
            </a:r>
            <a:endParaRPr lang="en-IN" sz="32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0C90A45-6F93-7BE1-FCBA-DF9B1661BC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308385"/>
            <a:ext cx="9088934" cy="9626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42533" y="0"/>
            <a:ext cx="18341027" cy="1046107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AutoShape 3"/>
          <p:cNvSpPr/>
          <p:nvPr/>
        </p:nvSpPr>
        <p:spPr>
          <a:xfrm>
            <a:off x="5349958" y="1790700"/>
            <a:ext cx="7482030" cy="0"/>
          </a:xfrm>
          <a:prstGeom prst="line">
            <a:avLst/>
          </a:prstGeom>
          <a:ln w="38100" cap="flat">
            <a:solidFill>
              <a:srgbClr val="048A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314454" y="5477826"/>
            <a:ext cx="17659092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lnSpc>
                <a:spcPts val="4289"/>
              </a:lnSpc>
              <a:buFont typeface="Wingdings" panose="05000000000000000000" pitchFamily="2" charset="2"/>
              <a:buChar char="Ø"/>
            </a:pPr>
            <a:r>
              <a:rPr lang="en-US" sz="4800" spc="-7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 :</a:t>
            </a:r>
          </a:p>
          <a:p>
            <a:pPr marL="457200" indent="-457200" algn="ctr">
              <a:lnSpc>
                <a:spcPts val="403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bg1"/>
                </a:solidFill>
              </a:rPr>
              <a:t>User-Friendly Navigation</a:t>
            </a:r>
            <a:r>
              <a:rPr lang="en-US" sz="2800" dirty="0">
                <a:solidFill>
                  <a:schemeClr val="bg1"/>
                </a:solidFill>
              </a:rPr>
              <a:t> – Easy-to-use dropdown menus</a:t>
            </a:r>
          </a:p>
          <a:p>
            <a:pPr marL="457200" indent="-457200" algn="ctr">
              <a:lnSpc>
                <a:spcPts val="4039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500" b="1" dirty="0">
                <a:solidFill>
                  <a:schemeClr val="bg1"/>
                </a:solidFill>
              </a:rPr>
              <a:t>Responsive Design</a:t>
            </a:r>
            <a:r>
              <a:rPr lang="en-US" sz="3500" dirty="0">
                <a:solidFill>
                  <a:schemeClr val="bg1"/>
                </a:solidFill>
              </a:rPr>
              <a:t> – Works on all devices</a:t>
            </a:r>
            <a:r>
              <a:rPr lang="en-US" sz="3500" dirty="0"/>
              <a:t>.</a:t>
            </a:r>
            <a:endParaRPr lang="en-US" sz="3500" spc="-71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208127" y="199885"/>
            <a:ext cx="929467" cy="981937"/>
          </a:xfrm>
          <a:custGeom>
            <a:avLst/>
            <a:gdLst/>
            <a:ahLst/>
            <a:cxnLst/>
            <a:rect l="l" t="t" r="r" b="b"/>
            <a:pathLst>
              <a:path w="929467" h="981937">
                <a:moveTo>
                  <a:pt x="0" y="0"/>
                </a:moveTo>
                <a:lnTo>
                  <a:pt x="929468" y="0"/>
                </a:lnTo>
                <a:lnTo>
                  <a:pt x="929468" y="981937"/>
                </a:lnTo>
                <a:lnTo>
                  <a:pt x="0" y="981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94017" y="2415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1"/>
                </a:lnTo>
                <a:lnTo>
                  <a:pt x="0" y="810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349958" y="549697"/>
            <a:ext cx="7482030" cy="11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6486" spc="441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2417" y="2729050"/>
            <a:ext cx="17691129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ctr">
              <a:lnSpc>
                <a:spcPts val="4211"/>
              </a:lnSpc>
              <a:buFont typeface="Wingdings" panose="05000000000000000000" pitchFamily="2" charset="2"/>
              <a:buChar char="Ø"/>
            </a:pPr>
            <a:r>
              <a:rPr lang="en-US" sz="4800" spc="-70" dirty="0">
                <a:solidFill>
                  <a:srgbClr val="FFFFFF"/>
                </a:solidFill>
                <a:latin typeface="Times New Roman Bold"/>
                <a:ea typeface="Times New Roman"/>
                <a:cs typeface="Times New Roman Bold"/>
                <a:sym typeface="Times New Roman Bold"/>
              </a:rPr>
              <a:t>What is Smart Gear ?</a:t>
            </a:r>
            <a:endParaRPr lang="en-US" sz="4800" spc="-7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ctr">
              <a:lnSpc>
                <a:spcPts val="3965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solidFill>
                  <a:schemeClr val="bg1"/>
                </a:solidFill>
              </a:rPr>
              <a:t>Smart Gear is a modern e-commerce platform </a:t>
            </a:r>
          </a:p>
          <a:p>
            <a:pPr marL="457200" indent="-457200" algn="ctr">
              <a:lnSpc>
                <a:spcPts val="3965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solidFill>
                  <a:schemeClr val="bg1"/>
                </a:solidFill>
              </a:rPr>
              <a:t>designed to showcase and sell OnePlus product </a:t>
            </a:r>
          </a:p>
          <a:p>
            <a:pPr marL="457200" indent="-457200" algn="ctr">
              <a:lnSpc>
                <a:spcPts val="3965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It includes smartphones, tablets, wearables</a:t>
            </a:r>
            <a:endParaRPr lang="en-US" sz="3200" spc="-70" dirty="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indent="-457200" algn="ctr">
              <a:lnSpc>
                <a:spcPts val="3965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en-US" sz="3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93439" y="9894385"/>
            <a:ext cx="4010261" cy="4005248"/>
          </a:xfrm>
          <a:custGeom>
            <a:avLst/>
            <a:gdLst/>
            <a:ahLst/>
            <a:cxnLst/>
            <a:rect l="l" t="t" r="r" b="b"/>
            <a:pathLst>
              <a:path w="4010261" h="4005248">
                <a:moveTo>
                  <a:pt x="0" y="0"/>
                </a:moveTo>
                <a:lnTo>
                  <a:pt x="4010261" y="0"/>
                </a:lnTo>
                <a:lnTo>
                  <a:pt x="4010261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193794" y="91222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46918" y="-6495565"/>
            <a:ext cx="8083465" cy="8073361"/>
          </a:xfrm>
          <a:custGeom>
            <a:avLst/>
            <a:gdLst/>
            <a:ahLst/>
            <a:cxnLst/>
            <a:rect l="l" t="t" r="r" b="b"/>
            <a:pathLst>
              <a:path w="8083465" h="8073361">
                <a:moveTo>
                  <a:pt x="0" y="0"/>
                </a:moveTo>
                <a:lnTo>
                  <a:pt x="8083465" y="0"/>
                </a:lnTo>
                <a:lnTo>
                  <a:pt x="8083465" y="8073361"/>
                </a:lnTo>
                <a:lnTo>
                  <a:pt x="0" y="8073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054386"/>
            <a:ext cx="17913065" cy="589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0"/>
              </a:lnSpc>
            </a:pPr>
            <a:r>
              <a:rPr lang="en-US" sz="4062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➢ Top Navbar </a:t>
            </a:r>
            <a:r>
              <a:rPr lang="en-US" sz="4400" dirty="0">
                <a:solidFill>
                  <a:schemeClr val="bg1"/>
                </a:solidFill>
              </a:rPr>
              <a:t>with categories: </a:t>
            </a:r>
            <a:r>
              <a:rPr lang="en-US" sz="4400" b="1" dirty="0">
                <a:solidFill>
                  <a:schemeClr val="bg1"/>
                </a:solidFill>
              </a:rPr>
              <a:t>Phones, Tablets, Wearables, Community, Support.</a:t>
            </a:r>
            <a:endParaRPr lang="en-US" sz="4062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4932"/>
              </a:lnSpc>
            </a:pPr>
            <a:endParaRPr lang="en-US" sz="4062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5930"/>
              </a:lnSpc>
            </a:pPr>
            <a:r>
              <a:rPr lang="en-US" sz="4062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➢ </a:t>
            </a:r>
            <a:r>
              <a:rPr lang="en-IN" sz="4400" b="1" dirty="0">
                <a:solidFill>
                  <a:schemeClr val="bg1"/>
                </a:solidFill>
              </a:rPr>
              <a:t>Animations &amp; Effects :- Using hover[Change colour , Add  shadow effect]</a:t>
            </a:r>
          </a:p>
          <a:p>
            <a:pPr algn="l">
              <a:lnSpc>
                <a:spcPts val="5930"/>
              </a:lnSpc>
            </a:pPr>
            <a:r>
              <a:rPr lang="en-IN" sz="4400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, With AOS library for sliding animation</a:t>
            </a:r>
            <a:endParaRPr lang="en-US" sz="4062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5930"/>
              </a:lnSpc>
            </a:pPr>
            <a:endParaRPr lang="en-US" sz="4062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5930"/>
              </a:lnSpc>
            </a:pPr>
            <a:r>
              <a:rPr lang="en-US" sz="4062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➢</a:t>
            </a:r>
            <a:r>
              <a:rPr lang="en-US" sz="4062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IN" sz="4400" b="1" dirty="0">
                <a:solidFill>
                  <a:schemeClr val="bg1"/>
                </a:solidFill>
              </a:rPr>
              <a:t>Responsive Design :-</a:t>
            </a:r>
            <a:r>
              <a:rPr lang="en-US" sz="4400" dirty="0">
                <a:solidFill>
                  <a:schemeClr val="bg1"/>
                </a:solidFill>
              </a:rPr>
              <a:t>Dynamic resizing of images and content on smaller screens.</a:t>
            </a:r>
            <a:endParaRPr lang="en-US" sz="4062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63966" y="240737"/>
            <a:ext cx="929467" cy="981937"/>
          </a:xfrm>
          <a:custGeom>
            <a:avLst/>
            <a:gdLst/>
            <a:ahLst/>
            <a:cxnLst/>
            <a:rect l="l" t="t" r="r" b="b"/>
            <a:pathLst>
              <a:path w="929467" h="981937">
                <a:moveTo>
                  <a:pt x="0" y="0"/>
                </a:moveTo>
                <a:lnTo>
                  <a:pt x="929468" y="0"/>
                </a:lnTo>
                <a:lnTo>
                  <a:pt x="929468" y="981938"/>
                </a:lnTo>
                <a:lnTo>
                  <a:pt x="0" y="981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921006" y="326300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2"/>
                </a:lnTo>
                <a:lnTo>
                  <a:pt x="0" y="8108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658092" y="1386976"/>
            <a:ext cx="8136502" cy="1151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88"/>
              </a:lnSpc>
            </a:pPr>
            <a:r>
              <a:rPr lang="en-US" sz="6682" dirty="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Website Feature :-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50475" y="1482226"/>
            <a:ext cx="653920" cy="886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0"/>
              </a:lnSpc>
              <a:spcBef>
                <a:spcPct val="0"/>
              </a:spcBef>
            </a:pPr>
            <a:r>
              <a:rPr lang="en-US" sz="5796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r>
              <a:rPr lang="en-US" dirty="0"/>
              <a:t>T</a:t>
            </a:r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6101973" y="9850563"/>
            <a:ext cx="4010261" cy="4005248"/>
          </a:xfrm>
          <a:custGeom>
            <a:avLst/>
            <a:gdLst/>
            <a:ahLst/>
            <a:cxnLst/>
            <a:rect l="l" t="t" r="r" b="b"/>
            <a:pathLst>
              <a:path w="4010261" h="4005248">
                <a:moveTo>
                  <a:pt x="0" y="0"/>
                </a:moveTo>
                <a:lnTo>
                  <a:pt x="4010261" y="0"/>
                </a:lnTo>
                <a:lnTo>
                  <a:pt x="4010261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193794" y="91222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46918" y="-6495565"/>
            <a:ext cx="8083465" cy="8073361"/>
          </a:xfrm>
          <a:custGeom>
            <a:avLst/>
            <a:gdLst/>
            <a:ahLst/>
            <a:cxnLst/>
            <a:rect l="l" t="t" r="r" b="b"/>
            <a:pathLst>
              <a:path w="8083465" h="8073361">
                <a:moveTo>
                  <a:pt x="0" y="0"/>
                </a:moveTo>
                <a:lnTo>
                  <a:pt x="8083465" y="0"/>
                </a:lnTo>
                <a:lnTo>
                  <a:pt x="8083465" y="8073361"/>
                </a:lnTo>
                <a:lnTo>
                  <a:pt x="0" y="8073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377861"/>
              </p:ext>
            </p:extLst>
          </p:nvPr>
        </p:nvGraphicFramePr>
        <p:xfrm>
          <a:off x="849463" y="1512877"/>
          <a:ext cx="16324053" cy="8372132"/>
        </p:xfrm>
        <a:graphic>
          <a:graphicData uri="http://schemas.openxmlformats.org/drawingml/2006/table">
            <a:tbl>
              <a:tblPr/>
              <a:tblGrid>
                <a:gridCol w="5225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18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9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7558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dirty="0">
                          <a:solidFill>
                            <a:srgbClr val="000000"/>
                          </a:solidFill>
                          <a:latin typeface="Montserrat Light Bold"/>
                          <a:sym typeface="Montserrat Light Bold"/>
                        </a:rPr>
                        <a:t>HTML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Montserrat Light Bold"/>
                          <a:sym typeface="Montserrat Light Bold"/>
                        </a:rPr>
                        <a:t>CSS &amp; BOOTSTRAP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 dirty="0">
                          <a:solidFill>
                            <a:srgbClr val="000000"/>
                          </a:solidFill>
                          <a:latin typeface="Montserrat Light Bold"/>
                          <a:sym typeface="Montserrat Light Bold"/>
                        </a:rPr>
                        <a:t>JAVASCRIPT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826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2800" dirty="0"/>
                        <a:t>Foundation of website</a:t>
                      </a:r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Montserrat Light"/>
                          <a:sym typeface="Montserrat Light"/>
                        </a:rPr>
                        <a:t>CSS give different styling like external / internal / inline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Montserrat Light"/>
                          <a:sym typeface="Montserrat Light"/>
                        </a:rPr>
                        <a:t>Mainly used for storing data and then showing it somewhere else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1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447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latin typeface="Montserrat Light"/>
                          <a:sym typeface="Montserrat Light"/>
                        </a:rPr>
                        <a:t>Different tag’s like table to show different some information</a:t>
                      </a:r>
                      <a:endParaRPr lang="en-US" sz="2800" dirty="0"/>
                    </a:p>
                    <a:p>
                      <a:pPr algn="ctr">
                        <a:lnSpc>
                          <a:spcPts val="447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Montserrat Light"/>
                          <a:sym typeface="Montserrat Light"/>
                        </a:rPr>
                        <a:t>BOOTSTRAP for carousel / modal and it’s different classes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000000"/>
                          </a:solidFill>
                          <a:latin typeface="Montserrat Light"/>
                          <a:sym typeface="Montserrat Light"/>
                        </a:rPr>
                        <a:t>Also used for refreshing the AOS animation  effect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1729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Freeform 7"/>
          <p:cNvSpPr/>
          <p:nvPr/>
        </p:nvSpPr>
        <p:spPr>
          <a:xfrm>
            <a:off x="99233" y="46763"/>
            <a:ext cx="929467" cy="981937"/>
          </a:xfrm>
          <a:custGeom>
            <a:avLst/>
            <a:gdLst/>
            <a:ahLst/>
            <a:cxnLst/>
            <a:rect l="l" t="t" r="r" b="b"/>
            <a:pathLst>
              <a:path w="929467" h="981937">
                <a:moveTo>
                  <a:pt x="0" y="0"/>
                </a:moveTo>
                <a:lnTo>
                  <a:pt x="929467" y="0"/>
                </a:lnTo>
                <a:lnTo>
                  <a:pt x="929467" y="981937"/>
                </a:lnTo>
                <a:lnTo>
                  <a:pt x="0" y="981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01947" y="132326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1"/>
                </a:lnTo>
                <a:lnTo>
                  <a:pt x="0" y="810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4E621-D28C-EDED-F7A8-19089AC5108A}"/>
              </a:ext>
            </a:extLst>
          </p:cNvPr>
          <p:cNvSpPr txBox="1"/>
          <p:nvPr/>
        </p:nvSpPr>
        <p:spPr>
          <a:xfrm>
            <a:off x="6172200" y="401991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Technologies Used </a:t>
            </a:r>
            <a:endParaRPr lang="en-IN" sz="5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1905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2310" y="1325062"/>
            <a:ext cx="20351423" cy="528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8"/>
              </a:lnSpc>
            </a:pP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5328"/>
              </a:lnSpc>
            </a:pPr>
            <a:r>
              <a:rPr lang="en-US" sz="3552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► Responsive problem solved using grid / @media </a:t>
            </a:r>
            <a:r>
              <a:rPr lang="en-US" sz="3552" dirty="0" err="1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querry</a:t>
            </a: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5328"/>
              </a:lnSpc>
            </a:pP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5328"/>
              </a:lnSpc>
            </a:pPr>
            <a:r>
              <a:rPr lang="en-US" sz="3552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► Storing Data &amp; Calling data done through </a:t>
            </a:r>
            <a:r>
              <a:rPr lang="en-US" sz="3552" dirty="0" err="1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Javascript</a:t>
            </a: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5328"/>
              </a:lnSpc>
            </a:pP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5328"/>
              </a:lnSpc>
            </a:pPr>
            <a:r>
              <a:rPr lang="en-US" sz="3552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►Animation done using CSS &amp; AOS </a:t>
            </a:r>
          </a:p>
          <a:p>
            <a:pPr algn="l">
              <a:lnSpc>
                <a:spcPts val="5328"/>
              </a:lnSpc>
            </a:pP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0" lvl="0" indent="0" algn="l">
              <a:lnSpc>
                <a:spcPts val="4553"/>
              </a:lnSpc>
              <a:spcBef>
                <a:spcPct val="0"/>
              </a:spcBef>
            </a:pPr>
            <a:endParaRPr lang="en-US" sz="3552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22310" y="219527"/>
            <a:ext cx="929467" cy="981937"/>
          </a:xfrm>
          <a:custGeom>
            <a:avLst/>
            <a:gdLst/>
            <a:ahLst/>
            <a:cxnLst/>
            <a:rect l="l" t="t" r="r" b="b"/>
            <a:pathLst>
              <a:path w="929467" h="981937">
                <a:moveTo>
                  <a:pt x="0" y="0"/>
                </a:moveTo>
                <a:lnTo>
                  <a:pt x="929468" y="0"/>
                </a:lnTo>
                <a:lnTo>
                  <a:pt x="929468" y="981937"/>
                </a:lnTo>
                <a:lnTo>
                  <a:pt x="0" y="981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45834" y="217889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1"/>
                </a:lnTo>
                <a:lnTo>
                  <a:pt x="0" y="810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90582" y="352877"/>
            <a:ext cx="7197018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080"/>
              </a:lnSpc>
            </a:pPr>
            <a:r>
              <a:rPr lang="en-US" sz="8000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Problems &amp; solution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85623" y="315257"/>
            <a:ext cx="653920" cy="886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0"/>
              </a:lnSpc>
              <a:spcBef>
                <a:spcPct val="0"/>
              </a:spcBef>
            </a:pPr>
            <a:r>
              <a:rPr lang="en-US" sz="5796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41394" y="9894385"/>
            <a:ext cx="4010261" cy="4005248"/>
          </a:xfrm>
          <a:custGeom>
            <a:avLst/>
            <a:gdLst/>
            <a:ahLst/>
            <a:cxnLst/>
            <a:rect l="l" t="t" r="r" b="b"/>
            <a:pathLst>
              <a:path w="4010261" h="4005248">
                <a:moveTo>
                  <a:pt x="0" y="0"/>
                </a:moveTo>
                <a:lnTo>
                  <a:pt x="4010260" y="0"/>
                </a:lnTo>
                <a:lnTo>
                  <a:pt x="4010260" y="4005248"/>
                </a:lnTo>
                <a:lnTo>
                  <a:pt x="0" y="4005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193794" y="91222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746918" y="-6495565"/>
            <a:ext cx="8083465" cy="8073361"/>
          </a:xfrm>
          <a:custGeom>
            <a:avLst/>
            <a:gdLst/>
            <a:ahLst/>
            <a:cxnLst/>
            <a:rect l="l" t="t" r="r" b="b"/>
            <a:pathLst>
              <a:path w="8083465" h="8073361">
                <a:moveTo>
                  <a:pt x="0" y="0"/>
                </a:moveTo>
                <a:lnTo>
                  <a:pt x="8083465" y="0"/>
                </a:lnTo>
                <a:lnTo>
                  <a:pt x="8083465" y="8073361"/>
                </a:lnTo>
                <a:lnTo>
                  <a:pt x="0" y="8073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68373" y="1612630"/>
            <a:ext cx="15751254" cy="5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512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5120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• Additional features</a:t>
            </a:r>
          </a:p>
          <a:p>
            <a:pPr algn="l">
              <a:lnSpc>
                <a:spcPts val="6014"/>
              </a:lnSpc>
            </a:pPr>
            <a:r>
              <a:rPr lang="en-US" sz="411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➢ Database Connectivity :- To store data , add new product directly or to remove new product directly by making changes in Database only.</a:t>
            </a:r>
          </a:p>
          <a:p>
            <a:pPr algn="l">
              <a:lnSpc>
                <a:spcPts val="6014"/>
              </a:lnSpc>
            </a:pPr>
            <a:r>
              <a:rPr lang="en-US" sz="4119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➢Al Chat Box :- Make it interactive with customer &amp; Answer their basic question.</a:t>
            </a:r>
          </a:p>
          <a:p>
            <a:pPr algn="l">
              <a:lnSpc>
                <a:spcPts val="6014"/>
              </a:lnSpc>
            </a:pPr>
            <a:endParaRPr lang="en-US" sz="4119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338906" y="237054"/>
            <a:ext cx="929467" cy="981937"/>
          </a:xfrm>
          <a:custGeom>
            <a:avLst/>
            <a:gdLst/>
            <a:ahLst/>
            <a:cxnLst/>
            <a:rect l="l" t="t" r="r" b="b"/>
            <a:pathLst>
              <a:path w="929467" h="981937">
                <a:moveTo>
                  <a:pt x="0" y="0"/>
                </a:moveTo>
                <a:lnTo>
                  <a:pt x="929467" y="0"/>
                </a:lnTo>
                <a:lnTo>
                  <a:pt x="929467" y="981937"/>
                </a:lnTo>
                <a:lnTo>
                  <a:pt x="0" y="981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24623" y="217889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1"/>
                </a:lnTo>
                <a:lnTo>
                  <a:pt x="0" y="810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82484" y="613722"/>
            <a:ext cx="6719072" cy="1132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88"/>
              </a:lnSpc>
            </a:pPr>
            <a:r>
              <a:rPr lang="en-US" sz="6682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FUTURE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 rot="-6001244">
            <a:off x="10917706" y="7049713"/>
            <a:ext cx="14283863" cy="12962606"/>
          </a:xfrm>
          <a:custGeom>
            <a:avLst/>
            <a:gdLst/>
            <a:ahLst/>
            <a:cxnLst/>
            <a:rect l="l" t="t" r="r" b="b"/>
            <a:pathLst>
              <a:path w="14283863" h="12962606">
                <a:moveTo>
                  <a:pt x="0" y="0"/>
                </a:moveTo>
                <a:lnTo>
                  <a:pt x="14283863" y="0"/>
                </a:lnTo>
                <a:lnTo>
                  <a:pt x="14283863" y="12962606"/>
                </a:lnTo>
                <a:lnTo>
                  <a:pt x="0" y="12962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4654">
            <a:off x="-6628924" y="-8283079"/>
            <a:ext cx="12596877" cy="11431666"/>
          </a:xfrm>
          <a:custGeom>
            <a:avLst/>
            <a:gdLst/>
            <a:ahLst/>
            <a:cxnLst/>
            <a:rect l="l" t="t" r="r" b="b"/>
            <a:pathLst>
              <a:path w="12596877" h="11431666">
                <a:moveTo>
                  <a:pt x="0" y="0"/>
                </a:moveTo>
                <a:lnTo>
                  <a:pt x="12596877" y="0"/>
                </a:lnTo>
                <a:lnTo>
                  <a:pt x="12596877" y="11431667"/>
                </a:lnTo>
                <a:lnTo>
                  <a:pt x="0" y="11431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45481" y="-69377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58731" y="4375039"/>
            <a:ext cx="11370537" cy="1393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2"/>
              </a:lnSpc>
            </a:pPr>
            <a:r>
              <a:rPr lang="en-US" sz="8087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1966901" y="177106"/>
            <a:ext cx="929467" cy="981937"/>
          </a:xfrm>
          <a:custGeom>
            <a:avLst/>
            <a:gdLst/>
            <a:ahLst/>
            <a:cxnLst/>
            <a:rect l="l" t="t" r="r" b="b"/>
            <a:pathLst>
              <a:path w="929467" h="981937">
                <a:moveTo>
                  <a:pt x="0" y="0"/>
                </a:moveTo>
                <a:lnTo>
                  <a:pt x="929468" y="0"/>
                </a:lnTo>
                <a:lnTo>
                  <a:pt x="929468" y="981937"/>
                </a:lnTo>
                <a:lnTo>
                  <a:pt x="0" y="981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111635" y="262669"/>
            <a:ext cx="4409269" cy="810811"/>
          </a:xfrm>
          <a:custGeom>
            <a:avLst/>
            <a:gdLst/>
            <a:ahLst/>
            <a:cxnLst/>
            <a:rect l="l" t="t" r="r" b="b"/>
            <a:pathLst>
              <a:path w="4409269" h="810811">
                <a:moveTo>
                  <a:pt x="0" y="0"/>
                </a:moveTo>
                <a:lnTo>
                  <a:pt x="4409269" y="0"/>
                </a:lnTo>
                <a:lnTo>
                  <a:pt x="4409269" y="810811"/>
                </a:lnTo>
                <a:lnTo>
                  <a:pt x="0" y="8108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269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3" baseType="lpstr">
      <vt:lpstr>Montserrat Classic</vt:lpstr>
      <vt:lpstr>Bebas Neue Bold</vt:lpstr>
      <vt:lpstr>DM Sans</vt:lpstr>
      <vt:lpstr>Wingdings</vt:lpstr>
      <vt:lpstr>Times New Roman Bold</vt:lpstr>
      <vt:lpstr>Calibri</vt:lpstr>
      <vt:lpstr>Arial</vt:lpstr>
      <vt:lpstr>Times New Roman</vt:lpstr>
      <vt:lpstr>DM Sans Bold</vt:lpstr>
      <vt:lpstr>Bebas Neue</vt:lpstr>
      <vt:lpstr>Now Bold</vt:lpstr>
      <vt:lpstr>Montserrat Light</vt:lpstr>
      <vt:lpstr>DM Sans Italics</vt:lpstr>
      <vt:lpstr>Montserrat Light Bold</vt:lpstr>
      <vt:lpstr>Bahnschrift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White Minimalist Modern Real Estate Presentation</dc:title>
  <cp:lastModifiedBy>Meetraj Vaghoshi</cp:lastModifiedBy>
  <cp:revision>3</cp:revision>
  <dcterms:created xsi:type="dcterms:W3CDTF">2006-08-16T00:00:00Z</dcterms:created>
  <dcterms:modified xsi:type="dcterms:W3CDTF">2025-02-22T04:47:15Z</dcterms:modified>
  <dc:identifier>DAF8wkoAYZY</dc:identifier>
</cp:coreProperties>
</file>